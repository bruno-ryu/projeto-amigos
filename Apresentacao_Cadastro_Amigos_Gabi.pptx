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6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Sistema de Cadastro de Amigos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DE4FF"/>
                </a:solidFill>
                <a:latin typeface="Calibri"/>
              </a:rPr>
              <a:t>CRUD Web com Login e Banco de Dados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3134" y="116541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 err="1">
                <a:solidFill>
                  <a:srgbClr val="2C3E50"/>
                </a:solidFill>
                <a:latin typeface="Calibri"/>
              </a:rPr>
              <a:t>Apresentação</a:t>
            </a:r>
            <a:r>
              <a:rPr sz="3200" b="1" dirty="0">
                <a:solidFill>
                  <a:srgbClr val="2C3E50"/>
                </a:solidFill>
                <a:latin typeface="Calibri"/>
              </a:rPr>
              <a:t> do </a:t>
            </a:r>
            <a:r>
              <a:rPr sz="3200" b="1" dirty="0" err="1">
                <a:solidFill>
                  <a:srgbClr val="2C3E50"/>
                </a:solidFill>
                <a:latin typeface="Calibri"/>
              </a:rPr>
              <a:t>Projeto</a:t>
            </a:r>
            <a:endParaRPr sz="3200" b="1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3134" y="914627"/>
            <a:ext cx="681476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555555"/>
                </a:solidFill>
                <a:latin typeface="Calibri"/>
              </a:rPr>
              <a:t>🎯 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Objetivo</a:t>
            </a:r>
            <a:endParaRPr sz="1600" dirty="0">
              <a:solidFill>
                <a:srgbClr val="555555"/>
              </a:solidFill>
              <a:latin typeface="Calibri"/>
            </a:endParaRPr>
          </a:p>
          <a:p>
            <a:r>
              <a:rPr sz="1600" dirty="0">
                <a:solidFill>
                  <a:srgbClr val="555555"/>
                </a:solidFill>
                <a:latin typeface="Calibri"/>
              </a:rPr>
              <a:t>    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Gerenciar</a:t>
            </a:r>
            <a:r>
              <a:rPr sz="1600" dirty="0">
                <a:solidFill>
                  <a:srgbClr val="555555"/>
                </a:solidFill>
                <a:latin typeface="Calibri"/>
              </a:rPr>
              <a:t> o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cadastro</a:t>
            </a:r>
            <a:r>
              <a:rPr sz="1600" dirty="0">
                <a:solidFill>
                  <a:srgbClr val="555555"/>
                </a:solidFill>
                <a:latin typeface="Calibri"/>
              </a:rPr>
              <a:t> de amigos de forma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segura</a:t>
            </a:r>
            <a:r>
              <a:rPr sz="1600" dirty="0">
                <a:solidFill>
                  <a:srgbClr val="555555"/>
                </a:solidFill>
                <a:latin typeface="Calibri"/>
              </a:rPr>
              <a:t>, com login e CRUD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completo</a:t>
            </a:r>
            <a:r>
              <a:rPr sz="1600" dirty="0">
                <a:solidFill>
                  <a:srgbClr val="555555"/>
                </a:solidFill>
                <a:latin typeface="Calibri"/>
              </a:rPr>
              <a:t>.</a:t>
            </a:r>
          </a:p>
          <a:p>
            <a:endParaRPr sz="1600" dirty="0">
              <a:solidFill>
                <a:srgbClr val="555555"/>
              </a:solidFill>
              <a:latin typeface="Calibri"/>
            </a:endParaRPr>
          </a:p>
          <a:p>
            <a:r>
              <a:rPr sz="1600" dirty="0">
                <a:solidFill>
                  <a:srgbClr val="555555"/>
                </a:solidFill>
                <a:latin typeface="Calibri"/>
              </a:rPr>
              <a:t>🧩 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Problema</a:t>
            </a:r>
            <a:r>
              <a:rPr sz="1600" dirty="0">
                <a:solidFill>
                  <a:srgbClr val="555555"/>
                </a:solidFill>
                <a:latin typeface="Calibri"/>
              </a:rPr>
              <a:t> que resolve</a:t>
            </a:r>
          </a:p>
          <a:p>
            <a:r>
              <a:rPr sz="1600" dirty="0">
                <a:solidFill>
                  <a:srgbClr val="555555"/>
                </a:solidFill>
                <a:latin typeface="Calibri"/>
              </a:rPr>
              <a:t>    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Substitui</a:t>
            </a:r>
            <a:r>
              <a:rPr sz="1600" dirty="0">
                <a:solidFill>
                  <a:srgbClr val="555555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cadernos</a:t>
            </a:r>
            <a:r>
              <a:rPr sz="1600" dirty="0">
                <a:solidFill>
                  <a:srgbClr val="555555"/>
                </a:solidFill>
                <a:latin typeface="Calibri"/>
              </a:rPr>
              <a:t> e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planilhas</a:t>
            </a:r>
            <a:r>
              <a:rPr sz="1600" dirty="0">
                <a:solidFill>
                  <a:srgbClr val="555555"/>
                </a:solidFill>
                <a:latin typeface="Calibri"/>
              </a:rPr>
              <a:t> por um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sistema</a:t>
            </a:r>
            <a:r>
              <a:rPr sz="1600" dirty="0">
                <a:solidFill>
                  <a:srgbClr val="555555"/>
                </a:solidFill>
                <a:latin typeface="Calibri"/>
              </a:rPr>
              <a:t> web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centralizado</a:t>
            </a:r>
            <a:r>
              <a:rPr sz="1600" dirty="0">
                <a:solidFill>
                  <a:srgbClr val="555555"/>
                </a:solidFill>
                <a:latin typeface="Calibri"/>
              </a:rPr>
              <a:t> e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protegido</a:t>
            </a:r>
            <a:r>
              <a:rPr sz="1600" dirty="0">
                <a:solidFill>
                  <a:srgbClr val="555555"/>
                </a:solidFill>
                <a:latin typeface="Calibri"/>
              </a:rPr>
              <a:t>.</a:t>
            </a:r>
          </a:p>
          <a:p>
            <a:endParaRPr sz="1600" dirty="0">
              <a:solidFill>
                <a:srgbClr val="555555"/>
              </a:solidFill>
              <a:latin typeface="Calibri"/>
            </a:endParaRPr>
          </a:p>
          <a:p>
            <a:r>
              <a:rPr sz="1600" dirty="0">
                <a:solidFill>
                  <a:srgbClr val="555555"/>
                </a:solidFill>
                <a:latin typeface="Calibri"/>
              </a:rPr>
              <a:t>👤 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Quem</a:t>
            </a:r>
            <a:r>
              <a:rPr sz="1600" dirty="0">
                <a:solidFill>
                  <a:srgbClr val="555555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utiliza</a:t>
            </a:r>
            <a:endParaRPr sz="1600" dirty="0">
              <a:solidFill>
                <a:srgbClr val="555555"/>
              </a:solidFill>
              <a:latin typeface="Calibri"/>
            </a:endParaRPr>
          </a:p>
          <a:p>
            <a:r>
              <a:rPr sz="1600" dirty="0">
                <a:solidFill>
                  <a:srgbClr val="555555"/>
                </a:solidFill>
                <a:latin typeface="Calibri"/>
              </a:rPr>
              <a:t>     Um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usuário</a:t>
            </a:r>
            <a:r>
              <a:rPr sz="1600" dirty="0">
                <a:solidFill>
                  <a:srgbClr val="555555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autenticado</a:t>
            </a:r>
            <a:r>
              <a:rPr sz="1600" dirty="0">
                <a:solidFill>
                  <a:srgbClr val="555555"/>
                </a:solidFill>
                <a:latin typeface="Calibri"/>
              </a:rPr>
              <a:t> (a Gabi), que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mantém</a:t>
            </a:r>
            <a:r>
              <a:rPr sz="1600" dirty="0">
                <a:solidFill>
                  <a:srgbClr val="555555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sua</a:t>
            </a:r>
            <a:r>
              <a:rPr sz="1600" dirty="0">
                <a:solidFill>
                  <a:srgbClr val="555555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lista</a:t>
            </a:r>
            <a:r>
              <a:rPr sz="1600" dirty="0">
                <a:solidFill>
                  <a:srgbClr val="555555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pessoal</a:t>
            </a:r>
            <a:r>
              <a:rPr sz="1600" dirty="0">
                <a:solidFill>
                  <a:srgbClr val="555555"/>
                </a:solidFill>
                <a:latin typeface="Calibri"/>
              </a:rPr>
              <a:t> de amigos.</a:t>
            </a:r>
          </a:p>
          <a:p>
            <a:endParaRPr sz="1600" dirty="0">
              <a:solidFill>
                <a:srgbClr val="555555"/>
              </a:solidFill>
              <a:latin typeface="Calibri"/>
            </a:endParaRPr>
          </a:p>
          <a:p>
            <a:r>
              <a:rPr sz="1600" dirty="0">
                <a:solidFill>
                  <a:srgbClr val="555555"/>
                </a:solidFill>
                <a:latin typeface="Calibri"/>
              </a:rPr>
              <a:t>    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12705E5-7CDE-43B1-8417-7A5832E89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664" y="3385428"/>
            <a:ext cx="7670365" cy="3400411"/>
          </a:xfrm>
          <a:prstGeom prst="rect">
            <a:avLst/>
          </a:prstGeom>
        </p:spPr>
      </p:pic>
      <p:sp>
        <p:nvSpPr>
          <p:cNvPr id="10" name="TextBox 3">
            <a:extLst>
              <a:ext uri="{FF2B5EF4-FFF2-40B4-BE49-F238E27FC236}">
                <a16:creationId xmlns:a16="http://schemas.microsoft.com/office/drawing/2014/main" id="{963CE1BF-945B-4868-865E-63A0808CBE2B}"/>
              </a:ext>
            </a:extLst>
          </p:cNvPr>
          <p:cNvSpPr txBox="1"/>
          <p:nvPr/>
        </p:nvSpPr>
        <p:spPr>
          <a:xfrm>
            <a:off x="7375408" y="700916"/>
            <a:ext cx="952410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>
              <a:solidFill>
                <a:srgbClr val="555555"/>
              </a:solidFill>
              <a:latin typeface="Calibri"/>
            </a:endParaRPr>
          </a:p>
          <a:p>
            <a:r>
              <a:rPr sz="1600" dirty="0">
                <a:solidFill>
                  <a:srgbClr val="555555"/>
                </a:solidFill>
                <a:latin typeface="Calibri"/>
              </a:rPr>
              <a:t>⚙️ 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Funcionalidades</a:t>
            </a:r>
            <a:r>
              <a:rPr sz="1600" dirty="0">
                <a:solidFill>
                  <a:srgbClr val="555555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principais</a:t>
            </a:r>
            <a:endParaRPr sz="1600" dirty="0">
              <a:solidFill>
                <a:srgbClr val="555555"/>
              </a:solidFill>
              <a:latin typeface="Calibri"/>
            </a:endParaRPr>
          </a:p>
          <a:p>
            <a:r>
              <a:rPr sz="1600" dirty="0">
                <a:solidFill>
                  <a:srgbClr val="555555"/>
                </a:solidFill>
                <a:latin typeface="Calibri"/>
              </a:rPr>
              <a:t>     • Login e logout com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sessão</a:t>
            </a:r>
            <a:r>
              <a:rPr sz="1600" dirty="0">
                <a:solidFill>
                  <a:srgbClr val="555555"/>
                </a:solidFill>
                <a:latin typeface="Calibri"/>
              </a:rPr>
              <a:t> PHP</a:t>
            </a:r>
          </a:p>
          <a:p>
            <a:r>
              <a:rPr sz="1600" dirty="0">
                <a:solidFill>
                  <a:srgbClr val="555555"/>
                </a:solidFill>
                <a:latin typeface="Calibri"/>
              </a:rPr>
              <a:t>     •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Cadastrar</a:t>
            </a:r>
            <a:r>
              <a:rPr sz="1600" dirty="0">
                <a:solidFill>
                  <a:srgbClr val="555555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listar</a:t>
            </a:r>
            <a:r>
              <a:rPr sz="1600" dirty="0">
                <a:solidFill>
                  <a:srgbClr val="555555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editar</a:t>
            </a:r>
            <a:r>
              <a:rPr sz="1600" dirty="0">
                <a:solidFill>
                  <a:srgbClr val="555555"/>
                </a:solidFill>
                <a:latin typeface="Calibri"/>
              </a:rPr>
              <a:t> e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excluir</a:t>
            </a:r>
            <a:r>
              <a:rPr sz="1600" dirty="0">
                <a:solidFill>
                  <a:srgbClr val="555555"/>
                </a:solidFill>
                <a:latin typeface="Calibri"/>
              </a:rPr>
              <a:t> amigos</a:t>
            </a:r>
          </a:p>
          <a:p>
            <a:r>
              <a:rPr sz="1600" dirty="0">
                <a:solidFill>
                  <a:srgbClr val="555555"/>
                </a:solidFill>
                <a:latin typeface="Calibri"/>
              </a:rPr>
              <a:t>     •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Busca</a:t>
            </a:r>
            <a:r>
              <a:rPr sz="1600" dirty="0">
                <a:solidFill>
                  <a:srgbClr val="555555"/>
                </a:solidFill>
                <a:latin typeface="Calibri"/>
              </a:rPr>
              <a:t> por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nome</a:t>
            </a:r>
            <a:r>
              <a:rPr sz="1600" dirty="0">
                <a:solidFill>
                  <a:srgbClr val="555555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sobrenome</a:t>
            </a:r>
            <a:r>
              <a:rPr sz="1600" dirty="0">
                <a:solidFill>
                  <a:srgbClr val="555555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ou</a:t>
            </a:r>
            <a:r>
              <a:rPr sz="1600" dirty="0">
                <a:solidFill>
                  <a:srgbClr val="555555"/>
                </a:solidFill>
                <a:latin typeface="Calibri"/>
              </a:rPr>
              <a:t> e-mail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Calibri"/>
              </a:rPr>
              <a:t>Tecnologias Utilizadas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500" b="1">
                <a:solidFill>
                  <a:srgbClr val="4A6CF7"/>
                </a:solidFill>
                <a:latin typeface="Calibri"/>
              </a:rPr>
              <a:t>HTML5</a:t>
            </a:r>
            <a:br/>
            <a:r>
              <a:rPr sz="1500" b="1">
                <a:solidFill>
                  <a:srgbClr val="4A6CF7"/>
                </a:solidFill>
                <a:latin typeface="Calibri"/>
              </a:rPr>
              <a:t>Estrutura das páginas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55448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500" b="1">
                <a:solidFill>
                  <a:srgbClr val="2980B9"/>
                </a:solidFill>
                <a:latin typeface="Calibri"/>
              </a:rPr>
              <a:t>CSS3</a:t>
            </a:r>
            <a:br/>
            <a:r>
              <a:rPr sz="1500" b="1">
                <a:solidFill>
                  <a:srgbClr val="2980B9"/>
                </a:solidFill>
                <a:latin typeface="Calibri"/>
              </a:rPr>
              <a:t>Estilização e responsividade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500" b="1">
                <a:solidFill>
                  <a:srgbClr val="F1C40F"/>
                </a:solidFill>
                <a:latin typeface="Calibri"/>
              </a:rPr>
              <a:t>JavaScript</a:t>
            </a:r>
            <a:br/>
            <a:r>
              <a:rPr sz="1500" b="1">
                <a:solidFill>
                  <a:srgbClr val="F1C40F"/>
                </a:solidFill>
                <a:latin typeface="Calibri"/>
              </a:rPr>
              <a:t>Validação no cliente e confirmações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500" b="1">
                <a:solidFill>
                  <a:srgbClr val="777BB4"/>
                </a:solidFill>
                <a:latin typeface="Calibri"/>
              </a:rPr>
              <a:t>PHP</a:t>
            </a:r>
            <a:br/>
            <a:r>
              <a:rPr sz="1500" b="1">
                <a:solidFill>
                  <a:srgbClr val="777BB4"/>
                </a:solidFill>
                <a:latin typeface="Calibri"/>
              </a:rPr>
              <a:t>Back-end, sessão e regras de negócio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10896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500" b="1">
                <a:solidFill>
                  <a:srgbClr val="00758B"/>
                </a:solidFill>
                <a:latin typeface="Calibri"/>
              </a:rPr>
              <a:t>MySQL</a:t>
            </a:r>
            <a:br/>
            <a:r>
              <a:rPr sz="1500" b="1">
                <a:solidFill>
                  <a:srgbClr val="00758B"/>
                </a:solidFill>
                <a:latin typeface="Calibri"/>
              </a:rPr>
              <a:t>Banco de dados relacional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10896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500" b="1">
                <a:solidFill>
                  <a:srgbClr val="E67E22"/>
                </a:solidFill>
                <a:latin typeface="Calibri"/>
              </a:rPr>
              <a:t>SQL</a:t>
            </a:r>
            <a:br/>
            <a:r>
              <a:rPr sz="1500" b="1">
                <a:solidFill>
                  <a:srgbClr val="E67E22"/>
                </a:solidFill>
                <a:latin typeface="Calibri"/>
              </a:rPr>
              <a:t>INSERT, SELECT, UPDATE, DELETE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55555"/>
                </a:solidFill>
                <a:latin typeface="Calibri"/>
              </a:rPr>
              <a:t>Ambiente local: XAMPP (Apache + MySQL + PHP) + phpMyAdmin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Calibri"/>
              </a:rPr>
              <a:t>Funcionamento Geral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463040"/>
            <a:ext cx="57607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500" b="1">
                <a:solidFill>
                  <a:srgbClr val="4A6CF7"/>
                </a:solidFill>
                <a:latin typeface="Calibri"/>
              </a:rPr>
              <a:t>Usuário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19842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55555"/>
                </a:solidFill>
                <a:latin typeface="Calibri"/>
              </a:rPr>
              <a:t>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103120"/>
            <a:ext cx="57607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500" b="1">
                <a:solidFill>
                  <a:srgbClr val="4A6CF7"/>
                </a:solidFill>
                <a:latin typeface="Calibri"/>
              </a:rPr>
              <a:t>Login (e-mail + senha)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26243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55555"/>
                </a:solidFill>
                <a:latin typeface="Calibr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743200"/>
            <a:ext cx="57607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500" b="1">
                <a:solidFill>
                  <a:srgbClr val="27AE60"/>
                </a:solidFill>
                <a:latin typeface="Calibri"/>
              </a:rPr>
              <a:t>Autenticação (password_verify)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2644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55555"/>
                </a:solidFill>
                <a:latin typeface="Calibri"/>
              </a:rP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3383280"/>
            <a:ext cx="57607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500" b="1">
                <a:solidFill>
                  <a:srgbClr val="27AE60"/>
                </a:solidFill>
                <a:latin typeface="Calibri"/>
              </a:rPr>
              <a:t>Sessão PHP criada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39044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55555"/>
                </a:solidFill>
                <a:latin typeface="Calibr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4023360"/>
            <a:ext cx="57607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500" b="1">
                <a:solidFill>
                  <a:srgbClr val="4A6CF7"/>
                </a:solidFill>
                <a:latin typeface="Calibri"/>
              </a:rPr>
              <a:t>Área protegida (dashboard)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55555"/>
                </a:solidFill>
                <a:latin typeface="Calibr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4663440"/>
            <a:ext cx="57607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500" b="1">
                <a:solidFill>
                  <a:srgbClr val="F1C40F"/>
                </a:solidFill>
                <a:latin typeface="Calibri"/>
              </a:rPr>
              <a:t>CRUD de Amigos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51846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55555"/>
                </a:solidFill>
                <a:latin typeface="Calibri"/>
              </a:rP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5303520"/>
            <a:ext cx="57607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500" b="1">
                <a:solidFill>
                  <a:srgbClr val="00758B"/>
                </a:solidFill>
                <a:latin typeface="Calibri"/>
              </a:rPr>
              <a:t>Banco de Dados MySQL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Calibri"/>
              </a:rPr>
              <a:t>Estrutura do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6858000" cy="50292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1300">
                <a:solidFill>
                  <a:srgbClr val="E0E0E0"/>
                </a:solidFill>
                <a:latin typeface="Consolas"/>
              </a:rPr>
              <a:t>cadastro-amigos/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├── index.php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├── login.php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├── logout.php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├── dashboard.php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├── amigos/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│   ├── listar.php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│   ├── cadastrar.php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│   ├── editar.php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│   └── excluir.php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├── config/conexao.php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├── includes/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│   ├── auth.php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│   ├── header.php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│   └── footer.php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├── css/style.css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├── js/script.js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└── database/banco.sql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4630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55555"/>
                </a:solidFill>
                <a:latin typeface="Calibri"/>
              </a:rPr>
              <a:t>📁 Organização</a:t>
            </a:r>
          </a:p>
          <a:p>
            <a:endParaRPr sz="1400">
              <a:solidFill>
                <a:srgbClr val="555555"/>
              </a:solidFill>
              <a:latin typeface="Calibri"/>
            </a:endParaRPr>
          </a:p>
          <a:p>
            <a:r>
              <a:rPr sz="1400">
                <a:solidFill>
                  <a:srgbClr val="555555"/>
                </a:solidFill>
                <a:latin typeface="Calibri"/>
              </a:rPr>
              <a:t>• Raiz: login, logout e dashboard</a:t>
            </a:r>
          </a:p>
          <a:p>
            <a:r>
              <a:rPr sz="1400">
                <a:solidFill>
                  <a:srgbClr val="555555"/>
                </a:solidFill>
                <a:latin typeface="Calibri"/>
              </a:rPr>
              <a:t>• amigos/: as 4 páginas do CRUD</a:t>
            </a:r>
          </a:p>
          <a:p>
            <a:r>
              <a:rPr sz="1400">
                <a:solidFill>
                  <a:srgbClr val="555555"/>
                </a:solidFill>
                <a:latin typeface="Calibri"/>
              </a:rPr>
              <a:t>• config/: conexão PDO</a:t>
            </a:r>
          </a:p>
          <a:p>
            <a:r>
              <a:rPr sz="1400">
                <a:solidFill>
                  <a:srgbClr val="555555"/>
                </a:solidFill>
                <a:latin typeface="Calibri"/>
              </a:rPr>
              <a:t>• includes/: auth, header, footer</a:t>
            </a:r>
          </a:p>
          <a:p>
            <a:r>
              <a:rPr sz="1400">
                <a:solidFill>
                  <a:srgbClr val="555555"/>
                </a:solidFill>
                <a:latin typeface="Calibri"/>
              </a:rPr>
              <a:t>• css/ e js/: front-end</a:t>
            </a:r>
          </a:p>
          <a:p>
            <a:r>
              <a:rPr sz="1400">
                <a:solidFill>
                  <a:srgbClr val="555555"/>
                </a:solidFill>
                <a:latin typeface="Calibri"/>
              </a:rPr>
              <a:t>• database/: script SQL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Calibri"/>
              </a:rPr>
              <a:t>Banco de Dados — cadastro_amigos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500" b="0">
                <a:solidFill>
                  <a:srgbClr val="2C3E50"/>
                </a:solidFill>
                <a:latin typeface="Calibri"/>
              </a:rPr>
              <a:t>Tabela: usuarios</a:t>
            </a:r>
            <a:br/>
            <a:br/>
            <a:r>
              <a:rPr sz="1500" b="0">
                <a:solidFill>
                  <a:srgbClr val="2C3E50"/>
                </a:solidFill>
                <a:latin typeface="Calibri"/>
              </a:rPr>
              <a:t>• id (PK, auto incremento)</a:t>
            </a:r>
            <a:br/>
            <a:r>
              <a:rPr sz="1500" b="0">
                <a:solidFill>
                  <a:srgbClr val="2C3E50"/>
                </a:solidFill>
                <a:latin typeface="Calibri"/>
              </a:rPr>
              <a:t>• nome</a:t>
            </a:r>
            <a:br/>
            <a:r>
              <a:rPr sz="1500" b="0">
                <a:solidFill>
                  <a:srgbClr val="2C3E50"/>
                </a:solidFill>
                <a:latin typeface="Calibri"/>
              </a:rPr>
              <a:t>• email (único)</a:t>
            </a:r>
            <a:br/>
            <a:r>
              <a:rPr sz="1500" b="0">
                <a:solidFill>
                  <a:srgbClr val="2C3E50"/>
                </a:solidFill>
                <a:latin typeface="Calibri"/>
              </a:rPr>
              <a:t>• senha (hash bcrypt)</a:t>
            </a:r>
            <a:br/>
            <a:r>
              <a:rPr sz="1500" b="0">
                <a:solidFill>
                  <a:srgbClr val="2C3E50"/>
                </a:solidFill>
                <a:latin typeface="Calibri"/>
              </a:rPr>
              <a:t>• criado_em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3035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500" b="0">
                <a:solidFill>
                  <a:srgbClr val="00758B"/>
                </a:solidFill>
                <a:latin typeface="Calibri"/>
              </a:rPr>
              <a:t>Tabela: amigos</a:t>
            </a:r>
            <a:br/>
            <a:br/>
            <a:r>
              <a:rPr sz="1500" b="0">
                <a:solidFill>
                  <a:srgbClr val="00758B"/>
                </a:solidFill>
                <a:latin typeface="Calibri"/>
              </a:rPr>
              <a:t>• id (PK)</a:t>
            </a:r>
            <a:br/>
            <a:r>
              <a:rPr sz="1500" b="0">
                <a:solidFill>
                  <a:srgbClr val="00758B"/>
                </a:solidFill>
                <a:latin typeface="Calibri"/>
              </a:rPr>
              <a:t>• nome, sobrenome</a:t>
            </a:r>
            <a:br/>
            <a:r>
              <a:rPr sz="1500" b="0">
                <a:solidFill>
                  <a:srgbClr val="00758B"/>
                </a:solidFill>
                <a:latin typeface="Calibri"/>
              </a:rPr>
              <a:t>• email, telefone</a:t>
            </a:r>
            <a:br/>
            <a:r>
              <a:rPr sz="1500" b="0">
                <a:solidFill>
                  <a:srgbClr val="00758B"/>
                </a:solidFill>
                <a:latin typeface="Calibri"/>
              </a:rPr>
              <a:t>• data_nascimento</a:t>
            </a:r>
            <a:br/>
            <a:r>
              <a:rPr sz="1500" b="0">
                <a:solidFill>
                  <a:srgbClr val="00758B"/>
                </a:solidFill>
                <a:latin typeface="Calibri"/>
              </a:rPr>
              <a:t>• cidade, observacoes</a:t>
            </a:r>
            <a:br/>
            <a:r>
              <a:rPr sz="1500" b="0">
                <a:solidFill>
                  <a:srgbClr val="00758B"/>
                </a:solidFill>
                <a:latin typeface="Calibri"/>
              </a:rPr>
              <a:t>• data_cadastro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55555"/>
                </a:solidFill>
                <a:latin typeface="Calibri"/>
              </a:rPr>
              <a:t>Sem chave estrangeira — cada amigo é global no sistema.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Calibri"/>
              </a:rPr>
              <a:t>Sistema de Login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555555"/>
                </a:solidFill>
                <a:latin typeface="Calibri"/>
              </a:rPr>
              <a:t>1. Usuário informa e-mail e senha</a:t>
            </a:r>
          </a:p>
          <a:p>
            <a:r>
              <a:rPr sz="1700">
                <a:solidFill>
                  <a:srgbClr val="555555"/>
                </a:solidFill>
                <a:latin typeface="Calibri"/>
              </a:rPr>
              <a:t>2. PHP valida os campos e o formato do e-mail</a:t>
            </a:r>
          </a:p>
          <a:p>
            <a:r>
              <a:rPr sz="1700">
                <a:solidFill>
                  <a:srgbClr val="555555"/>
                </a:solidFill>
                <a:latin typeface="Calibri"/>
              </a:rPr>
              <a:t>3. Consulta preparada no banco (PDO)</a:t>
            </a:r>
          </a:p>
          <a:p>
            <a:r>
              <a:rPr sz="1700">
                <a:solidFill>
                  <a:srgbClr val="555555"/>
                </a:solidFill>
                <a:latin typeface="Calibri"/>
              </a:rPr>
              <a:t>4. password_verify() compara a senha com o hash</a:t>
            </a:r>
          </a:p>
          <a:p>
            <a:r>
              <a:rPr sz="1700">
                <a:solidFill>
                  <a:srgbClr val="555555"/>
                </a:solidFill>
                <a:latin typeface="Calibri"/>
              </a:rPr>
              <a:t>5. Sessão criada e redirecionamento para o dashboard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CDFC742-EB32-45C6-AE54-1240D51A9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063" y="1371600"/>
            <a:ext cx="481382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Calibri"/>
              </a:rPr>
              <a:t>Proteção das Páginas e Sessão PHP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6858000" cy="29260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1300">
                <a:solidFill>
                  <a:srgbClr val="E0E0E0"/>
                </a:solidFill>
                <a:latin typeface="Consolas"/>
              </a:rPr>
              <a:t>// includes/auth.php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if (session_status() === PHP_SESSION_NONE) {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    session_start();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}</a:t>
            </a:r>
          </a:p>
          <a:p>
            <a:endParaRPr sz="1300">
              <a:solidFill>
                <a:srgbClr val="E0E0E0"/>
              </a:solidFill>
              <a:latin typeface="Consolas"/>
            </a:endParaRP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function verificarLogin(): void {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    if (!isset($_SESSION['usuario_id'])) {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        header('Location: ../login.php');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        exit;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    }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48056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Calibri"/>
              </a:rPr>
              <a:t>Toda página interna começa com:</a:t>
            </a:r>
          </a:p>
          <a:p>
            <a:endParaRPr sz="1500">
              <a:solidFill>
                <a:srgbClr val="555555"/>
              </a:solidFill>
              <a:latin typeface="Calibri"/>
            </a:endParaRPr>
          </a:p>
          <a:p>
            <a:r>
              <a:rPr sz="1500">
                <a:solidFill>
                  <a:srgbClr val="555555"/>
                </a:solidFill>
                <a:latin typeface="Calibri"/>
              </a:rPr>
              <a:t>  require_once '../includes/auth.php';</a:t>
            </a:r>
          </a:p>
          <a:p>
            <a:r>
              <a:rPr sz="1500">
                <a:solidFill>
                  <a:srgbClr val="555555"/>
                </a:solidFill>
                <a:latin typeface="Calibri"/>
              </a:rPr>
              <a:t>  verificarLogin();</a:t>
            </a:r>
          </a:p>
          <a:p>
            <a:endParaRPr sz="1500">
              <a:solidFill>
                <a:srgbClr val="555555"/>
              </a:solidFill>
              <a:latin typeface="Calibri"/>
            </a:endParaRPr>
          </a:p>
          <a:p>
            <a:r>
              <a:rPr sz="1500">
                <a:solidFill>
                  <a:srgbClr val="555555"/>
                </a:solidFill>
                <a:latin typeface="Calibri"/>
              </a:rPr>
              <a:t>Se não houver sessão, o PHP redireciona</a:t>
            </a:r>
          </a:p>
          <a:p>
            <a:r>
              <a:rPr sz="1500">
                <a:solidFill>
                  <a:srgbClr val="555555"/>
                </a:solidFill>
                <a:latin typeface="Calibri"/>
              </a:rPr>
              <a:t>automaticamente para o login.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Calibri"/>
              </a:rPr>
              <a:t>O que é CRUD?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6974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2000" b="1">
                <a:solidFill>
                  <a:srgbClr val="27AE60"/>
                </a:solidFill>
                <a:latin typeface="Calibri"/>
              </a:rPr>
              <a:t>CREATE</a:t>
            </a:r>
            <a:br/>
            <a:br/>
            <a:r>
              <a:rPr sz="2000" b="1">
                <a:solidFill>
                  <a:srgbClr val="27AE60"/>
                </a:solidFill>
                <a:latin typeface="Calibri"/>
              </a:rPr>
              <a:t>Criar</a:t>
            </a:r>
            <a:br/>
            <a:r>
              <a:rPr sz="2000" b="1">
                <a:solidFill>
                  <a:srgbClr val="27AE60"/>
                </a:solidFill>
                <a:latin typeface="Calibri"/>
              </a:rPr>
              <a:t>INSERT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011680"/>
            <a:ext cx="26974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2000" b="1">
                <a:solidFill>
                  <a:srgbClr val="4A6CF7"/>
                </a:solidFill>
                <a:latin typeface="Calibri"/>
              </a:rPr>
              <a:t>READ</a:t>
            </a:r>
            <a:br/>
            <a:br/>
            <a:r>
              <a:rPr sz="2000" b="1">
                <a:solidFill>
                  <a:srgbClr val="4A6CF7"/>
                </a:solidFill>
                <a:latin typeface="Calibri"/>
              </a:rPr>
              <a:t>Ler</a:t>
            </a:r>
            <a:br/>
            <a:r>
              <a:rPr sz="2000" b="1">
                <a:solidFill>
                  <a:srgbClr val="4A6CF7"/>
                </a:solidFill>
                <a:latin typeface="Calibri"/>
              </a:rPr>
              <a:t>SELECT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11680"/>
            <a:ext cx="26974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2000" b="1">
                <a:solidFill>
                  <a:srgbClr val="F1C40F"/>
                </a:solidFill>
                <a:latin typeface="Calibri"/>
              </a:rPr>
              <a:t>UPDATE</a:t>
            </a:r>
            <a:br/>
            <a:br/>
            <a:r>
              <a:rPr sz="2000" b="1">
                <a:solidFill>
                  <a:srgbClr val="F1C40F"/>
                </a:solidFill>
                <a:latin typeface="Calibri"/>
              </a:rPr>
              <a:t>Atualizar</a:t>
            </a:r>
            <a:br/>
            <a:r>
              <a:rPr sz="2000" b="1">
                <a:solidFill>
                  <a:srgbClr val="F1C40F"/>
                </a:solidFill>
                <a:latin typeface="Calibri"/>
              </a:rPr>
              <a:t>UPDATE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9720" y="2011680"/>
            <a:ext cx="26974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2000" b="1">
                <a:solidFill>
                  <a:srgbClr val="E74C3C"/>
                </a:solidFill>
                <a:latin typeface="Calibri"/>
              </a:rPr>
              <a:t>DELETE</a:t>
            </a:r>
            <a:br/>
            <a:br/>
            <a:r>
              <a:rPr sz="2000" b="1">
                <a:solidFill>
                  <a:srgbClr val="E74C3C"/>
                </a:solidFill>
                <a:latin typeface="Calibri"/>
              </a:rPr>
              <a:t>Excluir</a:t>
            </a:r>
            <a:br/>
            <a:r>
              <a:rPr sz="2000" b="1">
                <a:solidFill>
                  <a:srgbClr val="E74C3C"/>
                </a:solidFill>
                <a:latin typeface="Calibri"/>
              </a:rPr>
              <a:t>DELETE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55555"/>
                </a:solidFill>
                <a:latin typeface="Calibri"/>
              </a:rPr>
              <a:t>Cada operação tem uma tela própria no sistema e usa PDO com consultas preparadas.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Calibri"/>
              </a:rPr>
              <a:t>CREATE — Cadastro de Amigo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771478" cy="3164541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1300" dirty="0">
                <a:solidFill>
                  <a:srgbClr val="E0E0E0"/>
                </a:solidFill>
                <a:latin typeface="Consolas"/>
              </a:rPr>
              <a:t>$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sql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 = 'INSERT INTO amigos</a:t>
            </a:r>
          </a:p>
          <a:p>
            <a:r>
              <a:rPr sz="1300" dirty="0">
                <a:solidFill>
                  <a:srgbClr val="E0E0E0"/>
                </a:solidFill>
                <a:latin typeface="Consolas"/>
              </a:rPr>
              <a:t>        (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nome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, 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sobrenome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, email, 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telefone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,</a:t>
            </a:r>
          </a:p>
          <a:p>
            <a:r>
              <a:rPr sz="1300" dirty="0">
                <a:solidFill>
                  <a:srgbClr val="E0E0E0"/>
                </a:solidFill>
                <a:latin typeface="Consolas"/>
              </a:rPr>
              <a:t>         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data_nascimento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, 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cidade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, 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observacoes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)</a:t>
            </a:r>
          </a:p>
          <a:p>
            <a:r>
              <a:rPr sz="1300" dirty="0">
                <a:solidFill>
                  <a:srgbClr val="E0E0E0"/>
                </a:solidFill>
                <a:latin typeface="Consolas"/>
              </a:rPr>
              <a:t>        VALUES (: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nome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, :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sobrenome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, :email, :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telefone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,</a:t>
            </a:r>
          </a:p>
          <a:p>
            <a:r>
              <a:rPr sz="1300" dirty="0">
                <a:solidFill>
                  <a:srgbClr val="E0E0E0"/>
                </a:solidFill>
                <a:latin typeface="Consolas"/>
              </a:rPr>
              <a:t>         :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nascimento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, :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cidade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, :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obs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)';</a:t>
            </a:r>
          </a:p>
          <a:p>
            <a:endParaRPr sz="1300" dirty="0">
              <a:solidFill>
                <a:srgbClr val="E0E0E0"/>
              </a:solidFill>
              <a:latin typeface="Consolas"/>
            </a:endParaRPr>
          </a:p>
          <a:p>
            <a:r>
              <a:rPr sz="1300" dirty="0">
                <a:solidFill>
                  <a:srgbClr val="E0E0E0"/>
                </a:solidFill>
                <a:latin typeface="Consolas"/>
              </a:rPr>
              <a:t>$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stmt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 = $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pdo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-&gt;prepare($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sql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);</a:t>
            </a:r>
          </a:p>
          <a:p>
            <a:r>
              <a:rPr sz="1300" dirty="0">
                <a:solidFill>
                  <a:srgbClr val="E0E0E0"/>
                </a:solidFill>
                <a:latin typeface="Consolas"/>
              </a:rPr>
              <a:t>$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stmt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-&gt;execute([</a:t>
            </a:r>
          </a:p>
          <a:p>
            <a:r>
              <a:rPr sz="1300" dirty="0">
                <a:solidFill>
                  <a:srgbClr val="E0E0E0"/>
                </a:solidFill>
                <a:latin typeface="Consolas"/>
              </a:rPr>
              <a:t>    ':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nome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'      =&gt; $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nome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,</a:t>
            </a:r>
          </a:p>
          <a:p>
            <a:r>
              <a:rPr sz="1300" dirty="0">
                <a:solidFill>
                  <a:srgbClr val="E0E0E0"/>
                </a:solidFill>
                <a:latin typeface="Consolas"/>
              </a:rPr>
              <a:t>    ':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sobrenome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' =&gt; $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sobrenome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,</a:t>
            </a:r>
          </a:p>
          <a:p>
            <a:r>
              <a:rPr sz="1300" dirty="0">
                <a:solidFill>
                  <a:srgbClr val="E0E0E0"/>
                </a:solidFill>
                <a:latin typeface="Consolas"/>
              </a:rPr>
              <a:t>    ':email'     =&gt; $email,</a:t>
            </a:r>
          </a:p>
          <a:p>
            <a:r>
              <a:rPr sz="1300" dirty="0">
                <a:solidFill>
                  <a:srgbClr val="E0E0E0"/>
                </a:solidFill>
                <a:latin typeface="Consolas"/>
              </a:rPr>
              <a:t>    // ...</a:t>
            </a:r>
          </a:p>
          <a:p>
            <a:r>
              <a:rPr sz="1300" dirty="0">
                <a:solidFill>
                  <a:srgbClr val="E0E0E0"/>
                </a:solidFill>
                <a:latin typeface="Consolas"/>
              </a:rPr>
              <a:t>]);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463040"/>
            <a:ext cx="39319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555555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555555"/>
                </a:solidFill>
                <a:latin typeface="Calibri"/>
              </a:rPr>
              <a:t>Formulário</a:t>
            </a:r>
            <a:r>
              <a:rPr sz="1400" dirty="0">
                <a:solidFill>
                  <a:srgbClr val="555555"/>
                </a:solidFill>
                <a:latin typeface="Calibri"/>
              </a:rPr>
              <a:t> com 7 </a:t>
            </a:r>
            <a:r>
              <a:rPr sz="1400" dirty="0" err="1">
                <a:solidFill>
                  <a:srgbClr val="555555"/>
                </a:solidFill>
                <a:latin typeface="Calibri"/>
              </a:rPr>
              <a:t>campos</a:t>
            </a:r>
            <a:endParaRPr sz="1400" dirty="0">
              <a:solidFill>
                <a:srgbClr val="555555"/>
              </a:solidFill>
              <a:latin typeface="Calibri"/>
            </a:endParaRPr>
          </a:p>
          <a:p>
            <a:r>
              <a:rPr sz="1400" dirty="0">
                <a:solidFill>
                  <a:srgbClr val="555555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555555"/>
                </a:solidFill>
                <a:latin typeface="Calibri"/>
              </a:rPr>
              <a:t>Validação</a:t>
            </a:r>
            <a:r>
              <a:rPr sz="1400" dirty="0">
                <a:solidFill>
                  <a:srgbClr val="555555"/>
                </a:solidFill>
                <a:latin typeface="Calibri"/>
              </a:rPr>
              <a:t> no JS e no PHP</a:t>
            </a:r>
          </a:p>
          <a:p>
            <a:r>
              <a:rPr sz="1400" dirty="0">
                <a:solidFill>
                  <a:srgbClr val="555555"/>
                </a:solidFill>
                <a:latin typeface="Calibri"/>
              </a:rPr>
              <a:t>• INSERT com prepared statement</a:t>
            </a:r>
          </a:p>
          <a:p>
            <a:r>
              <a:rPr sz="1400" dirty="0">
                <a:solidFill>
                  <a:srgbClr val="555555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555555"/>
                </a:solidFill>
                <a:latin typeface="Calibri"/>
              </a:rPr>
              <a:t>Mensagem</a:t>
            </a:r>
            <a:r>
              <a:rPr sz="1400" dirty="0">
                <a:solidFill>
                  <a:srgbClr val="555555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555555"/>
                </a:solidFill>
                <a:latin typeface="Calibri"/>
              </a:rPr>
              <a:t>sucesso</a:t>
            </a:r>
            <a:endParaRPr sz="1400" dirty="0">
              <a:solidFill>
                <a:srgbClr val="555555"/>
              </a:solidFill>
              <a:latin typeface="Calibri"/>
            </a:endParaRPr>
          </a:p>
          <a:p>
            <a:endParaRPr sz="1400" dirty="0">
              <a:solidFill>
                <a:srgbClr val="555555"/>
              </a:solidFill>
              <a:latin typeface="Calibri"/>
            </a:endParaRPr>
          </a:p>
          <a:p>
            <a:endParaRPr sz="1400" dirty="0">
              <a:solidFill>
                <a:srgbClr val="555555"/>
              </a:solidFill>
              <a:latin typeface="Calibri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76757A-A39A-4147-AF81-BC5A8A3EC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382" y="2613212"/>
            <a:ext cx="5405057" cy="33303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Calibri"/>
              </a:rPr>
              <a:t>READ — Consulta dos Amigos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582105" cy="372931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1300">
                <a:solidFill>
                  <a:srgbClr val="E0E0E0"/>
                </a:solidFill>
                <a:latin typeface="Consolas"/>
              </a:rPr>
              <a:t>// Lista simples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$stmt = $pdo-&gt;query(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    'SELECT * FROM amigos ORDER BY nome'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);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$amigos = $stmt-&gt;fetchAll();</a:t>
            </a:r>
          </a:p>
          <a:p>
            <a:endParaRPr sz="1300">
              <a:solidFill>
                <a:srgbClr val="E0E0E0"/>
              </a:solidFill>
              <a:latin typeface="Consolas"/>
            </a:endParaRP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// Com busca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$stmt = $pdo-&gt;prepare(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    'SELECT * FROM amigos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     WHERE nome LIKE :b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        OR sobrenome LIKE :b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        OR email LIKE :b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     ORDER BY nome'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);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$stmt-&gt;execute([':b' =&gt; "%$busca%"]);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7489" y="1364428"/>
            <a:ext cx="39319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555555"/>
                </a:solidFill>
                <a:latin typeface="Calibri"/>
              </a:rPr>
              <a:t>• SELECT com ORDER BY </a:t>
            </a:r>
            <a:r>
              <a:rPr sz="1400" dirty="0" err="1">
                <a:solidFill>
                  <a:srgbClr val="555555"/>
                </a:solidFill>
                <a:latin typeface="Calibri"/>
              </a:rPr>
              <a:t>nome</a:t>
            </a:r>
            <a:endParaRPr sz="1400" dirty="0">
              <a:solidFill>
                <a:srgbClr val="555555"/>
              </a:solidFill>
              <a:latin typeface="Calibri"/>
            </a:endParaRPr>
          </a:p>
          <a:p>
            <a:r>
              <a:rPr sz="1400" dirty="0">
                <a:solidFill>
                  <a:srgbClr val="555555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555555"/>
                </a:solidFill>
                <a:latin typeface="Calibri"/>
              </a:rPr>
              <a:t>Busca</a:t>
            </a:r>
            <a:r>
              <a:rPr sz="1400" dirty="0">
                <a:solidFill>
                  <a:srgbClr val="555555"/>
                </a:solidFill>
                <a:latin typeface="Calibri"/>
              </a:rPr>
              <a:t> por LIKE</a:t>
            </a:r>
          </a:p>
          <a:p>
            <a:r>
              <a:rPr sz="1400" dirty="0">
                <a:solidFill>
                  <a:srgbClr val="555555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555555"/>
                </a:solidFill>
                <a:latin typeface="Calibri"/>
              </a:rPr>
              <a:t>fetchAll</a:t>
            </a:r>
            <a:r>
              <a:rPr sz="1400" dirty="0">
                <a:solidFill>
                  <a:srgbClr val="555555"/>
                </a:solidFill>
                <a:latin typeface="Calibri"/>
              </a:rPr>
              <a:t>() + foreach</a:t>
            </a:r>
          </a:p>
          <a:p>
            <a:r>
              <a:rPr sz="1400" dirty="0">
                <a:solidFill>
                  <a:srgbClr val="555555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555555"/>
                </a:solidFill>
                <a:latin typeface="Calibri"/>
              </a:rPr>
              <a:t>Botões</a:t>
            </a:r>
            <a:r>
              <a:rPr sz="1400" dirty="0">
                <a:solidFill>
                  <a:srgbClr val="555555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Calibri"/>
              </a:rPr>
              <a:t>Editar</a:t>
            </a:r>
            <a:r>
              <a:rPr sz="1400" dirty="0">
                <a:solidFill>
                  <a:srgbClr val="555555"/>
                </a:solidFill>
                <a:latin typeface="Calibri"/>
              </a:rPr>
              <a:t> e </a:t>
            </a:r>
            <a:r>
              <a:rPr sz="1400" dirty="0" err="1">
                <a:solidFill>
                  <a:srgbClr val="555555"/>
                </a:solidFill>
                <a:latin typeface="Calibri"/>
              </a:rPr>
              <a:t>Excluir</a:t>
            </a:r>
            <a:endParaRPr sz="1400" dirty="0">
              <a:solidFill>
                <a:srgbClr val="555555"/>
              </a:solidFill>
              <a:latin typeface="Calibri"/>
            </a:endParaRPr>
          </a:p>
          <a:p>
            <a:endParaRPr sz="1400" dirty="0">
              <a:solidFill>
                <a:srgbClr val="555555"/>
              </a:solidFill>
              <a:latin typeface="Calibri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22761A0-03E7-4C5F-87A3-4FB5386E2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099" y="2703203"/>
            <a:ext cx="5684242" cy="23964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Calibri"/>
              </a:rPr>
              <a:t>UPDATE — Edição de Amigo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4453666" cy="469750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1300">
                <a:solidFill>
                  <a:srgbClr val="E0E0E0"/>
                </a:solidFill>
                <a:latin typeface="Consolas"/>
              </a:rPr>
              <a:t>$sql = 'UPDATE amigos SET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        nome = :nome,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        sobrenome = :sobrenome,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        email = :email,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        telefone = :telefone,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        data_nascimento = :nascimento,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        cidade = :cidade,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        observacoes = :obs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        WHERE id = :id';</a:t>
            </a:r>
          </a:p>
          <a:p>
            <a:endParaRPr sz="1300">
              <a:solidFill>
                <a:srgbClr val="E0E0E0"/>
              </a:solidFill>
              <a:latin typeface="Consolas"/>
            </a:endParaRP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$stmt = $pdo-&gt;prepare($sql);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$stmt-&gt;execute([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    // ... demais campos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    ':id' =&gt; $id,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]);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74347" y="1371600"/>
            <a:ext cx="39319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555555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555555"/>
                </a:solidFill>
                <a:latin typeface="Calibri"/>
              </a:rPr>
              <a:t>Carrega</a:t>
            </a:r>
            <a:r>
              <a:rPr sz="1400" dirty="0">
                <a:solidFill>
                  <a:srgbClr val="555555"/>
                </a:solidFill>
                <a:latin typeface="Calibri"/>
              </a:rPr>
              <a:t> dados com SELECT ... WHERE id</a:t>
            </a:r>
          </a:p>
          <a:p>
            <a:r>
              <a:rPr sz="1400" dirty="0">
                <a:solidFill>
                  <a:srgbClr val="555555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555555"/>
                </a:solidFill>
                <a:latin typeface="Calibri"/>
              </a:rPr>
              <a:t>Preenche</a:t>
            </a:r>
            <a:r>
              <a:rPr sz="1400" dirty="0">
                <a:solidFill>
                  <a:srgbClr val="555555"/>
                </a:solidFill>
                <a:latin typeface="Calibri"/>
              </a:rPr>
              <a:t> o </a:t>
            </a:r>
            <a:r>
              <a:rPr sz="1400" dirty="0" err="1">
                <a:solidFill>
                  <a:srgbClr val="555555"/>
                </a:solidFill>
                <a:latin typeface="Calibri"/>
              </a:rPr>
              <a:t>formulário</a:t>
            </a:r>
            <a:endParaRPr sz="1400" dirty="0">
              <a:solidFill>
                <a:srgbClr val="555555"/>
              </a:solidFill>
              <a:latin typeface="Calibri"/>
            </a:endParaRPr>
          </a:p>
          <a:p>
            <a:r>
              <a:rPr sz="1400" dirty="0">
                <a:solidFill>
                  <a:srgbClr val="555555"/>
                </a:solidFill>
                <a:latin typeface="Calibri"/>
              </a:rPr>
              <a:t>• UPDATE com WHERE id = :id</a:t>
            </a:r>
          </a:p>
          <a:p>
            <a:r>
              <a:rPr sz="1400" dirty="0">
                <a:solidFill>
                  <a:srgbClr val="555555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555555"/>
                </a:solidFill>
                <a:latin typeface="Calibri"/>
              </a:rPr>
              <a:t>Validação</a:t>
            </a:r>
            <a:r>
              <a:rPr sz="1400" dirty="0">
                <a:solidFill>
                  <a:srgbClr val="555555"/>
                </a:solidFill>
                <a:latin typeface="Calibri"/>
              </a:rPr>
              <a:t> no </a:t>
            </a:r>
            <a:r>
              <a:rPr sz="1400" dirty="0" err="1">
                <a:solidFill>
                  <a:srgbClr val="555555"/>
                </a:solidFill>
                <a:latin typeface="Calibri"/>
              </a:rPr>
              <a:t>servidor</a:t>
            </a:r>
            <a:endParaRPr sz="1400" dirty="0">
              <a:solidFill>
                <a:srgbClr val="555555"/>
              </a:solidFill>
              <a:latin typeface="Calibri"/>
            </a:endParaRPr>
          </a:p>
          <a:p>
            <a:endParaRPr sz="1400" dirty="0">
              <a:solidFill>
                <a:srgbClr val="555555"/>
              </a:solidFill>
              <a:latin typeface="Calibri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7961469-C6CB-4339-BB22-5F1B24A51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9507" y="2422428"/>
            <a:ext cx="5816301" cy="37888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Calibri"/>
              </a:rPr>
              <a:t>DELETE — Exclusão de Amigo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6858000" cy="43891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1300">
                <a:solidFill>
                  <a:srgbClr val="E0E0E0"/>
                </a:solidFill>
                <a:latin typeface="Consolas"/>
              </a:rPr>
              <a:t>// Confirmação via JavaScript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function confirmarExclusao(nome) {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    return confirm(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        `Tem certeza que deseja excluir "${nome}"?`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    );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}</a:t>
            </a:r>
          </a:p>
          <a:p>
            <a:endParaRPr sz="1300">
              <a:solidFill>
                <a:srgbClr val="E0E0E0"/>
              </a:solidFill>
              <a:latin typeface="Consolas"/>
            </a:endParaRP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// Exclusão no PHP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if ($_GET['confirmar'] === '1') {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    $stmt = $pdo-&gt;prepare(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        'DELETE FROM amigos WHERE id = :id'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    );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    $stmt-&gt;execute([':id' =&gt; $id]);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    header('Location: listar.php?excluido=1');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    exit;</a:t>
            </a:r>
          </a:p>
          <a:p>
            <a:r>
              <a:rPr sz="130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463040"/>
            <a:ext cx="39319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555555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555555"/>
                </a:solidFill>
                <a:latin typeface="Calibri"/>
              </a:rPr>
              <a:t>Duas</a:t>
            </a:r>
            <a:r>
              <a:rPr sz="1400" dirty="0">
                <a:solidFill>
                  <a:srgbClr val="555555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Calibri"/>
              </a:rPr>
              <a:t>confirmações</a:t>
            </a:r>
            <a:r>
              <a:rPr sz="1400" dirty="0">
                <a:solidFill>
                  <a:srgbClr val="555555"/>
                </a:solidFill>
                <a:latin typeface="Calibri"/>
              </a:rPr>
              <a:t>:</a:t>
            </a:r>
          </a:p>
          <a:p>
            <a:r>
              <a:rPr sz="1400" dirty="0">
                <a:solidFill>
                  <a:srgbClr val="555555"/>
                </a:solidFill>
                <a:latin typeface="Calibri"/>
              </a:rPr>
              <a:t>   1. </a:t>
            </a:r>
            <a:r>
              <a:rPr sz="1400" dirty="0" err="1">
                <a:solidFill>
                  <a:srgbClr val="555555"/>
                </a:solidFill>
                <a:latin typeface="Calibri"/>
              </a:rPr>
              <a:t>Janela</a:t>
            </a:r>
            <a:r>
              <a:rPr sz="1400" dirty="0">
                <a:solidFill>
                  <a:srgbClr val="555555"/>
                </a:solidFill>
                <a:latin typeface="Calibri"/>
              </a:rPr>
              <a:t> do JavaScript</a:t>
            </a:r>
          </a:p>
          <a:p>
            <a:r>
              <a:rPr sz="1400" dirty="0">
                <a:solidFill>
                  <a:srgbClr val="555555"/>
                </a:solidFill>
                <a:latin typeface="Calibri"/>
              </a:rPr>
              <a:t>   2. Tela </a:t>
            </a:r>
            <a:r>
              <a:rPr sz="1400" dirty="0" err="1">
                <a:solidFill>
                  <a:srgbClr val="555555"/>
                </a:solidFill>
                <a:latin typeface="Calibri"/>
              </a:rPr>
              <a:t>dedicada</a:t>
            </a:r>
            <a:r>
              <a:rPr sz="1400" dirty="0">
                <a:solidFill>
                  <a:srgbClr val="555555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Calibri"/>
              </a:rPr>
              <a:t>em</a:t>
            </a:r>
            <a:r>
              <a:rPr sz="1400" dirty="0">
                <a:solidFill>
                  <a:srgbClr val="555555"/>
                </a:solidFill>
                <a:latin typeface="Calibri"/>
              </a:rPr>
              <a:t> PHP</a:t>
            </a:r>
          </a:p>
          <a:p>
            <a:r>
              <a:rPr sz="1400" dirty="0">
                <a:solidFill>
                  <a:srgbClr val="555555"/>
                </a:solidFill>
                <a:latin typeface="Calibri"/>
              </a:rPr>
              <a:t>• DELETE com WHERE id = :id</a:t>
            </a:r>
          </a:p>
          <a:p>
            <a:r>
              <a:rPr sz="1400" dirty="0">
                <a:solidFill>
                  <a:srgbClr val="555555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555555"/>
                </a:solidFill>
                <a:latin typeface="Calibri"/>
              </a:rPr>
              <a:t>Redireciona</a:t>
            </a:r>
            <a:r>
              <a:rPr sz="1400" dirty="0">
                <a:solidFill>
                  <a:srgbClr val="555555"/>
                </a:solidFill>
                <a:latin typeface="Calibri"/>
              </a:rPr>
              <a:t> para a </a:t>
            </a:r>
            <a:r>
              <a:rPr sz="1400" dirty="0" err="1">
                <a:solidFill>
                  <a:srgbClr val="555555"/>
                </a:solidFill>
                <a:latin typeface="Calibri"/>
              </a:rPr>
              <a:t>lista</a:t>
            </a:r>
            <a:endParaRPr sz="1400" dirty="0">
              <a:solidFill>
                <a:srgbClr val="555555"/>
              </a:solidFill>
              <a:latin typeface="Calibri"/>
            </a:endParaRPr>
          </a:p>
          <a:p>
            <a:endParaRPr sz="1400" dirty="0">
              <a:solidFill>
                <a:srgbClr val="55555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Calibri"/>
              </a:rPr>
              <a:t>Integração entre as Tecnologias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463040"/>
            <a:ext cx="94183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700" b="1">
                <a:solidFill>
                  <a:srgbClr val="4A6CF7"/>
                </a:solidFill>
                <a:latin typeface="Calibri"/>
              </a:rPr>
              <a:t>HTML + CSS   —   Estrutura e aparência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331720"/>
            <a:ext cx="94183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700" b="1">
                <a:solidFill>
                  <a:srgbClr val="F1C40F"/>
                </a:solidFill>
                <a:latin typeface="Calibri"/>
              </a:rPr>
              <a:t>JavaScript   —   Validação no cliente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200400"/>
            <a:ext cx="94183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700" b="1">
                <a:solidFill>
                  <a:srgbClr val="777BB4"/>
                </a:solidFill>
                <a:latin typeface="Calibri"/>
              </a:rPr>
              <a:t>PHP   —   Regras, sessão, validação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069080"/>
            <a:ext cx="94183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700" b="1">
                <a:solidFill>
                  <a:srgbClr val="E67E22"/>
                </a:solidFill>
                <a:latin typeface="Calibri"/>
              </a:rPr>
              <a:t>SQL / PDO   —   INSERT, SELECT, UPDATE, DELETE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937760"/>
            <a:ext cx="94183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700" b="1">
                <a:solidFill>
                  <a:srgbClr val="00758B"/>
                </a:solidFill>
                <a:latin typeface="Calibri"/>
              </a:rPr>
              <a:t>MySQL   —   Armazenamento dos dados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Calibri"/>
              </a:rPr>
              <a:t>Cada camada tem sua responsabilidade. Se uma falha, o sistema inteiro para.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Calibri"/>
              </a:rPr>
              <a:t>Validação e Segurança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dirty="0">
                <a:solidFill>
                  <a:srgbClr val="555555"/>
                </a:solidFill>
                <a:latin typeface="Calibri"/>
              </a:rPr>
              <a:t>🔐  </a:t>
            </a:r>
            <a:r>
              <a:rPr sz="1700" dirty="0" err="1">
                <a:solidFill>
                  <a:srgbClr val="555555"/>
                </a:solidFill>
                <a:latin typeface="Calibri"/>
              </a:rPr>
              <a:t>Sessões</a:t>
            </a:r>
            <a:r>
              <a:rPr sz="1700" dirty="0">
                <a:solidFill>
                  <a:srgbClr val="555555"/>
                </a:solidFill>
                <a:latin typeface="Calibri"/>
              </a:rPr>
              <a:t> PHP para </a:t>
            </a:r>
            <a:r>
              <a:rPr sz="1700" dirty="0" err="1">
                <a:solidFill>
                  <a:srgbClr val="555555"/>
                </a:solidFill>
                <a:latin typeface="Calibri"/>
              </a:rPr>
              <a:t>autenticação</a:t>
            </a:r>
            <a:r>
              <a:rPr sz="1700" dirty="0">
                <a:solidFill>
                  <a:srgbClr val="555555"/>
                </a:solidFill>
                <a:latin typeface="Calibri"/>
              </a:rPr>
              <a:t> e </a:t>
            </a:r>
            <a:r>
              <a:rPr sz="1700" dirty="0" err="1">
                <a:solidFill>
                  <a:srgbClr val="555555"/>
                </a:solidFill>
                <a:latin typeface="Calibri"/>
              </a:rPr>
              <a:t>proteção</a:t>
            </a:r>
            <a:r>
              <a:rPr sz="1700" dirty="0">
                <a:solidFill>
                  <a:srgbClr val="555555"/>
                </a:solidFill>
                <a:latin typeface="Calibri"/>
              </a:rPr>
              <a:t> das </a:t>
            </a:r>
            <a:r>
              <a:rPr sz="1700" dirty="0" err="1">
                <a:solidFill>
                  <a:srgbClr val="555555"/>
                </a:solidFill>
                <a:latin typeface="Calibri"/>
              </a:rPr>
              <a:t>páginas</a:t>
            </a:r>
            <a:endParaRPr sz="1700" dirty="0">
              <a:solidFill>
                <a:srgbClr val="555555"/>
              </a:solidFill>
              <a:latin typeface="Calibri"/>
            </a:endParaRPr>
          </a:p>
          <a:p>
            <a:endParaRPr sz="1700" dirty="0">
              <a:solidFill>
                <a:srgbClr val="555555"/>
              </a:solidFill>
              <a:latin typeface="Calibri"/>
            </a:endParaRPr>
          </a:p>
          <a:p>
            <a:r>
              <a:rPr sz="1700" dirty="0">
                <a:solidFill>
                  <a:srgbClr val="555555"/>
                </a:solidFill>
                <a:latin typeface="Calibri"/>
              </a:rPr>
              <a:t>🛡️  PDO com prepared statements </a:t>
            </a:r>
            <a:r>
              <a:rPr sz="1700" dirty="0" err="1">
                <a:solidFill>
                  <a:srgbClr val="555555"/>
                </a:solidFill>
                <a:latin typeface="Calibri"/>
              </a:rPr>
              <a:t>em</a:t>
            </a:r>
            <a:r>
              <a:rPr sz="1700" dirty="0">
                <a:solidFill>
                  <a:srgbClr val="555555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555555"/>
                </a:solidFill>
                <a:latin typeface="Calibri"/>
              </a:rPr>
              <a:t>todas</a:t>
            </a:r>
            <a:r>
              <a:rPr sz="1700" dirty="0">
                <a:solidFill>
                  <a:srgbClr val="555555"/>
                </a:solidFill>
                <a:latin typeface="Calibri"/>
              </a:rPr>
              <a:t> as </a:t>
            </a:r>
            <a:r>
              <a:rPr sz="1700" dirty="0" err="1">
                <a:solidFill>
                  <a:srgbClr val="555555"/>
                </a:solidFill>
                <a:latin typeface="Calibri"/>
              </a:rPr>
              <a:t>consultas</a:t>
            </a:r>
            <a:r>
              <a:rPr sz="1700">
                <a:solidFill>
                  <a:srgbClr val="555555"/>
                </a:solidFill>
                <a:latin typeface="Calibri"/>
              </a:rPr>
              <a:t> </a:t>
            </a:r>
            <a:endParaRPr sz="1700" dirty="0">
              <a:solidFill>
                <a:srgbClr val="555555"/>
              </a:solidFill>
              <a:latin typeface="Calibri"/>
            </a:endParaRPr>
          </a:p>
          <a:p>
            <a:endParaRPr sz="1700" dirty="0">
              <a:solidFill>
                <a:srgbClr val="555555"/>
              </a:solidFill>
              <a:latin typeface="Calibri"/>
            </a:endParaRPr>
          </a:p>
          <a:p>
            <a:r>
              <a:rPr sz="1700" dirty="0">
                <a:solidFill>
                  <a:srgbClr val="555555"/>
                </a:solidFill>
                <a:latin typeface="Calibri"/>
              </a:rPr>
              <a:t>✅  </a:t>
            </a:r>
            <a:r>
              <a:rPr sz="1700" dirty="0" err="1">
                <a:solidFill>
                  <a:srgbClr val="555555"/>
                </a:solidFill>
                <a:latin typeface="Calibri"/>
              </a:rPr>
              <a:t>Validação</a:t>
            </a:r>
            <a:r>
              <a:rPr sz="1700" dirty="0">
                <a:solidFill>
                  <a:srgbClr val="555555"/>
                </a:solidFill>
                <a:latin typeface="Calibri"/>
              </a:rPr>
              <a:t> no </a:t>
            </a:r>
            <a:r>
              <a:rPr sz="1700" dirty="0" err="1">
                <a:solidFill>
                  <a:srgbClr val="555555"/>
                </a:solidFill>
                <a:latin typeface="Calibri"/>
              </a:rPr>
              <a:t>cliente</a:t>
            </a:r>
            <a:r>
              <a:rPr sz="1700" dirty="0">
                <a:solidFill>
                  <a:srgbClr val="555555"/>
                </a:solidFill>
                <a:latin typeface="Calibri"/>
              </a:rPr>
              <a:t>: </a:t>
            </a:r>
            <a:r>
              <a:rPr sz="1700" dirty="0" err="1">
                <a:solidFill>
                  <a:srgbClr val="555555"/>
                </a:solidFill>
                <a:latin typeface="Calibri"/>
              </a:rPr>
              <a:t>campos</a:t>
            </a:r>
            <a:r>
              <a:rPr sz="1700" dirty="0">
                <a:solidFill>
                  <a:srgbClr val="555555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555555"/>
                </a:solidFill>
                <a:latin typeface="Calibri"/>
              </a:rPr>
              <a:t>obrigatórios</a:t>
            </a:r>
            <a:r>
              <a:rPr sz="1700" dirty="0">
                <a:solidFill>
                  <a:srgbClr val="555555"/>
                </a:solidFill>
                <a:latin typeface="Calibri"/>
              </a:rPr>
              <a:t>, </a:t>
            </a:r>
            <a:r>
              <a:rPr sz="1700" dirty="0" err="1">
                <a:solidFill>
                  <a:srgbClr val="555555"/>
                </a:solidFill>
                <a:latin typeface="Calibri"/>
              </a:rPr>
              <a:t>formato</a:t>
            </a:r>
            <a:r>
              <a:rPr sz="1700" dirty="0">
                <a:solidFill>
                  <a:srgbClr val="555555"/>
                </a:solidFill>
                <a:latin typeface="Calibri"/>
              </a:rPr>
              <a:t> de e-mail, data </a:t>
            </a:r>
            <a:r>
              <a:rPr sz="1700" dirty="0" err="1">
                <a:solidFill>
                  <a:srgbClr val="555555"/>
                </a:solidFill>
                <a:latin typeface="Calibri"/>
              </a:rPr>
              <a:t>não</a:t>
            </a:r>
            <a:r>
              <a:rPr sz="1700" dirty="0">
                <a:solidFill>
                  <a:srgbClr val="555555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555555"/>
                </a:solidFill>
                <a:latin typeface="Calibri"/>
              </a:rPr>
              <a:t>futura</a:t>
            </a:r>
            <a:endParaRPr sz="1700" dirty="0">
              <a:solidFill>
                <a:srgbClr val="555555"/>
              </a:solidFill>
              <a:latin typeface="Calibri"/>
            </a:endParaRPr>
          </a:p>
          <a:p>
            <a:endParaRPr sz="1700" dirty="0">
              <a:solidFill>
                <a:srgbClr val="555555"/>
              </a:solidFill>
              <a:latin typeface="Calibri"/>
            </a:endParaRPr>
          </a:p>
          <a:p>
            <a:r>
              <a:rPr sz="1700" dirty="0">
                <a:solidFill>
                  <a:srgbClr val="555555"/>
                </a:solidFill>
                <a:latin typeface="Calibri"/>
              </a:rPr>
              <a:t>✅  </a:t>
            </a:r>
            <a:r>
              <a:rPr sz="1700" dirty="0" err="1">
                <a:solidFill>
                  <a:srgbClr val="555555"/>
                </a:solidFill>
                <a:latin typeface="Calibri"/>
              </a:rPr>
              <a:t>Validação</a:t>
            </a:r>
            <a:r>
              <a:rPr sz="1700" dirty="0">
                <a:solidFill>
                  <a:srgbClr val="555555"/>
                </a:solidFill>
                <a:latin typeface="Calibri"/>
              </a:rPr>
              <a:t> no </a:t>
            </a:r>
            <a:r>
              <a:rPr sz="1700" dirty="0" err="1">
                <a:solidFill>
                  <a:srgbClr val="555555"/>
                </a:solidFill>
                <a:latin typeface="Calibri"/>
              </a:rPr>
              <a:t>servidor</a:t>
            </a:r>
            <a:r>
              <a:rPr sz="1700" dirty="0">
                <a:solidFill>
                  <a:srgbClr val="555555"/>
                </a:solidFill>
                <a:latin typeface="Calibri"/>
              </a:rPr>
              <a:t>: trim(), </a:t>
            </a:r>
            <a:r>
              <a:rPr sz="1700" dirty="0" err="1">
                <a:solidFill>
                  <a:srgbClr val="555555"/>
                </a:solidFill>
                <a:latin typeface="Calibri"/>
              </a:rPr>
              <a:t>filter_var</a:t>
            </a:r>
            <a:r>
              <a:rPr sz="1700" dirty="0">
                <a:solidFill>
                  <a:srgbClr val="555555"/>
                </a:solidFill>
                <a:latin typeface="Calibri"/>
              </a:rPr>
              <a:t>(), </a:t>
            </a:r>
            <a:r>
              <a:rPr sz="1700" dirty="0" err="1">
                <a:solidFill>
                  <a:srgbClr val="555555"/>
                </a:solidFill>
                <a:latin typeface="Calibri"/>
              </a:rPr>
              <a:t>verificação</a:t>
            </a:r>
            <a:r>
              <a:rPr sz="1700" dirty="0">
                <a:solidFill>
                  <a:srgbClr val="555555"/>
                </a:solidFill>
                <a:latin typeface="Calibri"/>
              </a:rPr>
              <a:t> de </a:t>
            </a:r>
            <a:r>
              <a:rPr sz="1700" dirty="0" err="1">
                <a:solidFill>
                  <a:srgbClr val="555555"/>
                </a:solidFill>
                <a:latin typeface="Calibri"/>
              </a:rPr>
              <a:t>vazios</a:t>
            </a:r>
            <a:endParaRPr sz="1700" dirty="0">
              <a:solidFill>
                <a:srgbClr val="555555"/>
              </a:solidFill>
              <a:latin typeface="Calibri"/>
            </a:endParaRPr>
          </a:p>
          <a:p>
            <a:endParaRPr sz="1700" dirty="0">
              <a:solidFill>
                <a:srgbClr val="555555"/>
              </a:solidFill>
              <a:latin typeface="Calibri"/>
            </a:endParaRPr>
          </a:p>
          <a:p>
            <a:r>
              <a:rPr sz="1700" dirty="0">
                <a:solidFill>
                  <a:srgbClr val="555555"/>
                </a:solidFill>
                <a:latin typeface="Calibri"/>
              </a:rPr>
              <a:t>🧼  </a:t>
            </a:r>
            <a:r>
              <a:rPr sz="1700" dirty="0" err="1">
                <a:solidFill>
                  <a:srgbClr val="555555"/>
                </a:solidFill>
                <a:latin typeface="Calibri"/>
              </a:rPr>
              <a:t>htmlspecialchars</a:t>
            </a:r>
            <a:r>
              <a:rPr sz="1700" dirty="0">
                <a:solidFill>
                  <a:srgbClr val="555555"/>
                </a:solidFill>
                <a:latin typeface="Calibri"/>
              </a:rPr>
              <a:t>() </a:t>
            </a:r>
            <a:r>
              <a:rPr sz="1700" dirty="0" err="1">
                <a:solidFill>
                  <a:srgbClr val="555555"/>
                </a:solidFill>
                <a:latin typeface="Calibri"/>
              </a:rPr>
              <a:t>em</a:t>
            </a:r>
            <a:r>
              <a:rPr sz="1700" dirty="0">
                <a:solidFill>
                  <a:srgbClr val="555555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555555"/>
                </a:solidFill>
                <a:latin typeface="Calibri"/>
              </a:rPr>
              <a:t>toda</a:t>
            </a:r>
            <a:r>
              <a:rPr sz="1700" dirty="0">
                <a:solidFill>
                  <a:srgbClr val="555555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555555"/>
                </a:solidFill>
                <a:latin typeface="Calibri"/>
              </a:rPr>
              <a:t>saída</a:t>
            </a:r>
            <a:r>
              <a:rPr sz="1700" dirty="0">
                <a:solidFill>
                  <a:srgbClr val="555555"/>
                </a:solidFill>
                <a:latin typeface="Calibri"/>
              </a:rPr>
              <a:t> de dados</a:t>
            </a:r>
          </a:p>
          <a:p>
            <a:endParaRPr sz="1700" dirty="0">
              <a:solidFill>
                <a:srgbClr val="555555"/>
              </a:solidFill>
              <a:latin typeface="Calibri"/>
            </a:endParaRPr>
          </a:p>
          <a:p>
            <a:r>
              <a:rPr sz="1700" dirty="0">
                <a:solidFill>
                  <a:srgbClr val="555555"/>
                </a:solidFill>
                <a:latin typeface="Calibri"/>
              </a:rPr>
              <a:t>🚪  Logout </a:t>
            </a:r>
            <a:r>
              <a:rPr sz="1700" dirty="0" err="1">
                <a:solidFill>
                  <a:srgbClr val="555555"/>
                </a:solidFill>
                <a:latin typeface="Calibri"/>
              </a:rPr>
              <a:t>limpa</a:t>
            </a:r>
            <a:r>
              <a:rPr sz="1700" dirty="0">
                <a:solidFill>
                  <a:srgbClr val="555555"/>
                </a:solidFill>
                <a:latin typeface="Calibri"/>
              </a:rPr>
              <a:t> $_SESSION, </a:t>
            </a:r>
            <a:r>
              <a:rPr sz="1700" dirty="0" err="1">
                <a:solidFill>
                  <a:srgbClr val="555555"/>
                </a:solidFill>
                <a:latin typeface="Calibri"/>
              </a:rPr>
              <a:t>destrói</a:t>
            </a:r>
            <a:r>
              <a:rPr sz="1700" dirty="0">
                <a:solidFill>
                  <a:srgbClr val="555555"/>
                </a:solidFill>
                <a:latin typeface="Calibri"/>
              </a:rPr>
              <a:t> o cookie e a </a:t>
            </a:r>
            <a:r>
              <a:rPr sz="1700" dirty="0" err="1">
                <a:solidFill>
                  <a:srgbClr val="555555"/>
                </a:solidFill>
                <a:latin typeface="Calibri"/>
              </a:rPr>
              <a:t>sessão</a:t>
            </a:r>
            <a:endParaRPr sz="1700" dirty="0">
              <a:solidFill>
                <a:srgbClr val="55555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Calibri"/>
              </a:rPr>
              <a:t>Habilidades Desenvolvidas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486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500" b="0">
                <a:solidFill>
                  <a:srgbClr val="2C3E50"/>
                </a:solidFill>
                <a:latin typeface="Calibri"/>
              </a:rPr>
              <a:t>Técnicas</a:t>
            </a:r>
            <a:br/>
            <a:br/>
            <a:r>
              <a:rPr sz="1500" b="0">
                <a:solidFill>
                  <a:srgbClr val="2C3E50"/>
                </a:solidFill>
                <a:latin typeface="Calibri"/>
              </a:rPr>
              <a:t>• HTML5 semântico</a:t>
            </a:r>
            <a:br/>
            <a:r>
              <a:rPr sz="1500" b="0">
                <a:solidFill>
                  <a:srgbClr val="2C3E50"/>
                </a:solidFill>
                <a:latin typeface="Calibri"/>
              </a:rPr>
              <a:t>• CSS3 responsivo</a:t>
            </a:r>
            <a:br/>
            <a:r>
              <a:rPr sz="1500" b="0">
                <a:solidFill>
                  <a:srgbClr val="2C3E50"/>
                </a:solidFill>
                <a:latin typeface="Calibri"/>
              </a:rPr>
              <a:t>• JavaScript</a:t>
            </a:r>
            <a:br/>
            <a:r>
              <a:rPr sz="1500" b="0">
                <a:solidFill>
                  <a:srgbClr val="2C3E50"/>
                </a:solidFill>
                <a:latin typeface="Calibri"/>
              </a:rPr>
              <a:t>• PHP com PDO</a:t>
            </a:r>
            <a:br/>
            <a:r>
              <a:rPr sz="1500" b="0">
                <a:solidFill>
                  <a:srgbClr val="2C3E50"/>
                </a:solidFill>
                <a:latin typeface="Calibri"/>
              </a:rPr>
              <a:t>• SQL (INSERT, SELECT, UPDATE, DELETE)</a:t>
            </a:r>
            <a:br/>
            <a:r>
              <a:rPr sz="1500" b="0">
                <a:solidFill>
                  <a:srgbClr val="2C3E50"/>
                </a:solidFill>
                <a:latin typeface="Calibri"/>
              </a:rPr>
              <a:t>• Modelagem de banco</a:t>
            </a:r>
            <a:br/>
            <a:r>
              <a:rPr sz="1500" b="0">
                <a:solidFill>
                  <a:srgbClr val="2C3E50"/>
                </a:solidFill>
                <a:latin typeface="Calibri"/>
              </a:rPr>
              <a:t>• Autenticação com sessão</a:t>
            </a:r>
            <a:br/>
            <a:r>
              <a:rPr sz="1500" b="0">
                <a:solidFill>
                  <a:srgbClr val="2C3E50"/>
                </a:solidFill>
                <a:latin typeface="Calibri"/>
              </a:rPr>
              <a:t>• Hash de senha (bcrypt)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500" b="0">
                <a:solidFill>
                  <a:srgbClr val="27AE60"/>
                </a:solidFill>
                <a:latin typeface="Calibri"/>
              </a:rPr>
              <a:t>Conceituais</a:t>
            </a:r>
            <a:br/>
            <a:br/>
            <a:r>
              <a:rPr sz="1500" b="0">
                <a:solidFill>
                  <a:srgbClr val="27AE60"/>
                </a:solidFill>
                <a:latin typeface="Calibri"/>
              </a:rPr>
              <a:t>• Separação em camadas</a:t>
            </a:r>
            <a:br/>
            <a:r>
              <a:rPr sz="1500" b="0">
                <a:solidFill>
                  <a:srgbClr val="27AE60"/>
                </a:solidFill>
                <a:latin typeface="Calibri"/>
              </a:rPr>
              <a:t>• CRUD completo</a:t>
            </a:r>
            <a:br/>
            <a:r>
              <a:rPr sz="1500" b="0">
                <a:solidFill>
                  <a:srgbClr val="27AE60"/>
                </a:solidFill>
                <a:latin typeface="Calibri"/>
              </a:rPr>
              <a:t>• Segurança em aplicações web</a:t>
            </a:r>
            <a:br/>
            <a:r>
              <a:rPr sz="1500" b="0">
                <a:solidFill>
                  <a:srgbClr val="27AE60"/>
                </a:solidFill>
                <a:latin typeface="Calibri"/>
              </a:rPr>
              <a:t>• Prevenção de SQL Injection</a:t>
            </a:r>
            <a:br/>
            <a:r>
              <a:rPr sz="1500" b="0">
                <a:solidFill>
                  <a:srgbClr val="27AE60"/>
                </a:solidFill>
                <a:latin typeface="Calibri"/>
              </a:rPr>
              <a:t>• Organização de projeto</a:t>
            </a:r>
            <a:br/>
            <a:r>
              <a:rPr sz="1500" b="0">
                <a:solidFill>
                  <a:srgbClr val="27AE60"/>
                </a:solidFill>
                <a:latin typeface="Calibri"/>
              </a:rPr>
              <a:t>• Integração front-end / back-end</a:t>
            </a:r>
            <a:br/>
            <a:r>
              <a:rPr sz="1500" b="0">
                <a:solidFill>
                  <a:srgbClr val="27AE60"/>
                </a:solidFill>
                <a:latin typeface="Calibri"/>
              </a:rPr>
              <a:t>• Validação em dois níveis</a:t>
            </a:r>
            <a:br/>
            <a:r>
              <a:rPr sz="1500" b="0">
                <a:solidFill>
                  <a:srgbClr val="27AE60"/>
                </a:solidFill>
                <a:latin typeface="Calibri"/>
              </a:rPr>
              <a:t>• Boas práticas de código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6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FFFFF"/>
                </a:solidFill>
                <a:latin typeface="Calibri"/>
              </a:rPr>
              <a:t>O Sistema de Cadastro de Amigos da Gabi aplica, de forma integrada, os conceitos de Programação Web II:</a:t>
            </a:r>
          </a:p>
          <a:p>
            <a:endParaRPr sz="2000">
              <a:solidFill>
                <a:srgbClr val="FFFFFF"/>
              </a:solidFill>
              <a:latin typeface="Calibri"/>
            </a:endParaRPr>
          </a:p>
          <a:p>
            <a:r>
              <a:rPr sz="2000">
                <a:solidFill>
                  <a:srgbClr val="FFFFFF"/>
                </a:solidFill>
                <a:latin typeface="Calibri"/>
              </a:rPr>
              <a:t>HTML  •  CSS  •  JavaScript  •  PHP  •  SQL  •  Banco de Dados</a:t>
            </a:r>
          </a:p>
          <a:p>
            <a:r>
              <a:rPr sz="2000">
                <a:solidFill>
                  <a:srgbClr val="FFFFFF"/>
                </a:solidFill>
                <a:latin typeface="Calibri"/>
              </a:rPr>
              <a:t>Autenticação  •  Sessões  •  CRUD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1325</Words>
  <Application>Microsoft Office PowerPoint</Application>
  <PresentationFormat>Widescreen</PresentationFormat>
  <Paragraphs>209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Prof. Dr. Bruno Ryu</dc:creator>
  <cp:keywords/>
  <dc:description>generated using python-pptx</dc:description>
  <cp:lastModifiedBy>Bruno Ryu</cp:lastModifiedBy>
  <cp:revision>5</cp:revision>
  <dcterms:created xsi:type="dcterms:W3CDTF">2013-01-27T09:14:16Z</dcterms:created>
  <dcterms:modified xsi:type="dcterms:W3CDTF">2026-09-22T04:40:00Z</dcterms:modified>
  <cp:category/>
</cp:coreProperties>
</file>